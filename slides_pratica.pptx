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 Prática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— Implementação em Python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1371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Minimização de f(x)  ·  Lab 2: TSP ulysses16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funciona a sessão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recebem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0" y="13441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Python com TODOs + dados da instância TSP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25603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vocês implementam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212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seguindo os slides — na ordem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5603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SA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30815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pronto no Lab 1 — o Lab 2 só importa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25603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extra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9502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 cada lab, para quem terminar antes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mesma função SA resolve os dois problemas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as 3 funções plugadas mudam — o núcleo não é reescrito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10512"/>
            <a:ext cx="8046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simulated_annealing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(inicial_fn, vizinho_fn, objetivo_fn)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Binário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3749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np.array([0,1,1,0,...])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3749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95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 de 1 bit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462272"/>
            <a:ext cx="3749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535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f(decode(sol))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423160"/>
            <a:ext cx="3931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— TSP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3182112"/>
            <a:ext cx="3749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552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np.array([0,3,7,1,...])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3822192"/>
            <a:ext cx="3749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895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de 2 índices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42062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92040" y="4462272"/>
            <a:ext cx="37490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5354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distância do circuito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Binário para Minimização de f(x)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 f(x) = x · sin(x)  no intervalo [−20, 20]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 binário de N bits  ·  </a:t>
            </a:r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Vizinhança: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de 1 bit aleatório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 o problema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Plote f(x) = x · sin(x) e identifique os mínimos locais antes de rodar qualquer algoritmo.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114800" cy="182880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688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 — Etapa 1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np.linspace(-20, 20, 1000)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???  # calcule f(x)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plt.plot(x, y)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00" dirty="0"/>
          </a:p>
        </p:txBody>
      </p:sp>
      <p:pic>
        <p:nvPicPr>
          <p:cNvPr id="8" name="Image 0" descr="/home/edgar/Documents/Aula/Otimização/grafico_f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80160"/>
            <a:ext cx="4114800" cy="1737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3108960"/>
            <a:ext cx="4114800" cy="914400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2040" y="32004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onde estão os mínimos locais? Qual é o mínimo global? Um algoritmo guloso ficaria preso onde?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Representação Binária — como codificar 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vetor de N bits representa um número real no intervalo [X_MIN, X_MAX]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decodificação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7627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inteiro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valor inteiro do vetor de bits (base 2)
</a:t>
            </a:r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X_MIN  +  inteiro  ×  (X_MAX − X_MIN) / (2</a:t>
            </a:r>
            <a:pPr indent="0" marL="0">
              <a:buNone/>
            </a:pPr>
            <a:r>
              <a:rPr lang="en-US" sz="1300" baseline="30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N_BITS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com N_BITS = 4 e intervalo [−20, 20]: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338328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N_BITS = 16: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2¹⁶ = 65.536 valores distintos → precisão de ~0,0006 em [−20, 20]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  decodificar( 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fórmula do slide anterior para converter o vetor de bits em um valor real.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46304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2316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decodificar(sol):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inteiro = int("".join(sol.astype(str)), 2)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TODO: retorne x mapeado para [X_MIN, X_MAX]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???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antes de continuar: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25112"/>
            <a:ext cx="8046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zeros → X_MIN?  uns → X_MAX?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print(decodificar(np.zeros(N_BITS, dtype=int)))  # esperado: -20.0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print(decodificar(np.ones(N_BITS,  dtype=int)))  # esperado:  20.0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 as funções do problema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p1_inicial( 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51760" cy="5029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Retorna vetor binário aleatório de N_BITS elementos.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np.random.randint(0, 2, size=N_BITS)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1280160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p1_vizinho(sol)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691640"/>
            <a:ext cx="2651760" cy="5029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 sol e inverte 1 bit aleatório.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nova[i] = 1 − nova[i]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4496" y="1280160"/>
            <a:ext cx="26517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280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p1_objetivo(sol)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4496" y="1691640"/>
            <a:ext cx="2651760" cy="5029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4496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Decodifica sol para x, retorna f(x).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x * np.sin(x)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37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após implementar, chame cada função isoladamente e verifique o tipo e o formato do retorno antes de plugar no SA.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Núcleo SA — leia e entenda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implementado em lab1_esqueleto.py. Você vai reutilizá-lo no Lab 2 sem alteração.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834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53312"/>
            <a:ext cx="804672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simulated_annealing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(inicial_fn, vizinho_fn, objetivo_fn,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T0, T_min, alpha, n_iter):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T0
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&gt; T_min:
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 in range(n_iter):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candidato = vizinho_fn(atual)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delta = objetivo_fn(candidato) − objetivo_fn(atual)
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delta &lt; 0  </a:t>
            </a:r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random() &lt; e^(−delta/T):  aceita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*= alpha   # resfriamento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temperatura inicial  ·  </a:t>
            </a:r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cooling rate (0.99–0.999)  ·  </a:t>
            </a:r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n_iter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iterações por nível de temperatura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e analise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solucao, custo, historico = simulated_annealing(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p1_inicial, p1_vizinho, p1_objetivo)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x_enc = decodificar(solucao)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print(f'x = {x_enc:.4f}  →  f(x) = {custo:.4f}')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o ponto encontrado no gráfico de f(x) com plt.scatter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Plote a curva de convergência: plt.plot(historico)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no gráfico: fase de exploração vs. refinamento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Extra — Efeito de N_BITS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Mude N_BITS para 8, 16 e 24 e rode o SA. O que muda?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64792"/>
            <a:ext cx="8046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bits in [8, 16, 24]: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N_BITS = bits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sol, c, _ = simulated_annealing(p1_inicial, p1_vizinho, p1_objetivo)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print(f'N_BITS={bits}  x={decodificar(sol):.4f}  f={c:.4f}')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56032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Valores distintos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 em [−20, 20]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Espaço de busca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65.536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~0,000002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Reflexão: N_BITS maior sempre melhora a solução? Qual o custo de aumentar?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para o TSP — instância real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ulysses16 (TSPLIB95) — 16 cidades com coordenadas geográficas reais
</a:t>
            </a:r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conhecido: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6859 km  ·  </a:t>
            </a:r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SA do Lab 1 — só as 3 funções mudam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instância ulysses16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cidades com coordenadas geográficas reais (latitude, longitude) representando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paradas da Odisseia de Ulisses no Mediterrâneo.
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TSPLIB95 (Groetschel/Padberg)  ·  Ótimo: </a:t>
            </a:r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6859 km</a:t>
            </a:r>
            <a:endParaRPr lang="en-US" sz="1300" dirty="0"/>
          </a:p>
        </p:txBody>
      </p:sp>
      <p:pic>
        <p:nvPicPr>
          <p:cNvPr id="4" name="Image 0" descr="/home/edgar/Documents/Aula/Otimização/grafico_t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41148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68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da solução: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2788920"/>
            <a:ext cx="438912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8620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np.array([0, 3, 7, 1, 14, 5, ...])  # permutação de índices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minimizar a distância total do circuito fechado.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Distância Geográfica — fórmula GEO do TSPLIB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em graus decimais → distância em km (inteiro)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— converter graus para radianos (padrão TSPLIB):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76272"/>
            <a:ext cx="8046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deg = int(coord)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= coord − deg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 = π × (deg + 5 × min / 3) / 180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— calcular distância entre duas cidades c1 e c2: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822960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02152"/>
            <a:ext cx="80467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cos(lon1 − lon2)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 = cos(lat1 − lat2)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cos(lat1 + lat2)
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 = int( RRR × arccos( 0,5 × ((1 + q1)×q2 − (1 − q1)×q3) ) + 1 )    # RRR = 6378,388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  _to_rad( )  e  geo_dist( 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fórmulas do slide anterior. Ao final, pré-calcule a matriz de distâncias.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169164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2316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_to_rad(coord):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TODO: converta grau decimal → radiano (fórmula TSPLIB)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geo_dist(c1, c2):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TODO: q1, q2, q3 → retorne d (veja fórmula no slide anterior)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251960"/>
            <a:ext cx="822960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25112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Após implementar, descomente: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np.array([[geo_dist(CIDADES[i], CIDADES[j]) for j in range(N)] for i in range(N)])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Verifique: DIST[0][0] == 0  e  DIST[0][1] deve ser ~817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 as funções do TSP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estrutura do Lab 1 — representação diferente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p2_inicial( 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51760" cy="5029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Permutação aleatória dos N índices.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np.random.permutation(N)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371600"/>
            <a:ext cx="2651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p2_vizinho(sol)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1783080"/>
            <a:ext cx="2651760" cy="5029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Copia sol e troca dois índices.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j = np.random.choice(N,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nova[i], nova[j] = nova[j], nova[i]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371600"/>
            <a:ext cx="2651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p2_objetivo(sol)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1783080"/>
            <a:ext cx="2651760" cy="50292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Soma distâncias do circuito.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sum(DIST[sol[i], sol[(i+1)%N]]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range(N))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 é importado do Lab 1: from lab1_esqueleto import simulated_annealing — não reimplemente.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e calcule o gap de otimalidade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55448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solucao, custo, historico = simulated_annealing(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p2_inicial, p2_vizinho, p2_objetivo)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= (custo - OTIMO_CONHECIDO) / OTIMO_CONHECIDO * 100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print(f'SA={custo:.0f}  Ótimo={OTIMO_CONHECIDO}  Gap={gap:.1f}%')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 otimalidade: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107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(%) = (distância_SA − ótimo) / ótimo  × 100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995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Plote rota inicial vs. rota SA lado a lado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453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Plote a curva de convergência — o SA chegou perto do ótimo?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 Extra — Troque swap por 2-opt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swap troca dois elementos isolados. O 2-opt inverte um segmento inteiro da rota — vizinhança mais rica.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(swap):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93192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677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j = np.random.choice(N, 2)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nova[i], nova[j] = nova[j], nova[i]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(2-opt):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93192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2677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j = sorted(np.random.choice(N, 2))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nova[i:j+1] = nova[i:j+1][::-1]  # inverte segmento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solidFill>
            <a:srgbClr val="FEFCE8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546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os gaps obtidos com swap e com 2-opt. Qual convergiu para uma solução melhor? Há diferença no tempo de execução?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vimos hoje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813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SA resolveu dois problemas com representações completamente diferentes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67128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8541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chave: separar a mecânica da busca (SA) da definição do problema (3 funções)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71216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89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vizinhança é tão importante quanto o algoritmo — swap vs. 2-opt muda o resultado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75304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9359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ótimo conhecido (ulysses16), podemos medir objetivamente a qualidade da solução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Parte Prática — Simulated Annealing</dc:title>
  <dc:subject>PptxGenJS Presentation</dc:subject>
  <dc:creator>PptxGenJS</dc:creator>
  <cp:lastModifiedBy>PptxGenJS</cp:lastModifiedBy>
  <cp:revision>1</cp:revision>
  <dcterms:created xsi:type="dcterms:W3CDTF">2026-06-13T01:35:26Z</dcterms:created>
  <dcterms:modified xsi:type="dcterms:W3CDTF">2026-06-13T01:35:26Z</dcterms:modified>
</cp:coreProperties>
</file>