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 Teórica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com Algoritmos Heurísticos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2971800"/>
            <a:ext cx="1463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127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blocos  ·  1h40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da aula teórica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2062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4128" y="10789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Otimização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0" y="1097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42062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5564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828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Construtivas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0" y="1847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42062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05456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25786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Local e SA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2596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42062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55264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4128" y="332841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Populacionais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3346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05072"/>
            <a:ext cx="42062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05072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4128" y="407822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e Boas Práticas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4096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Fundamentos de Otimização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otimizar?  ·  Por que é difícil?  ·  Que abordagens temos?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um problema de otimização?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decisão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estamos escolhendo: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rotas, horários, parâmetros, alocações…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1325880"/>
            <a:ext cx="2651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325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objetivo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55848" y="17556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minimizamos ou maximizamos: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custo, tempo, distância, lucro…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2651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325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54496" y="17556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limita as escolhas válidas: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capacidade, prazo, orçamento, regras…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do dia a dia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35808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de veículos — minimizar distância total respeitando capacidade dos caminhões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93008"/>
            <a:ext cx="82296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11296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Escalonamento de turnos — minimizar custo de pessoal respeitando folgas e carga horária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68496"/>
            <a:ext cx="82296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86784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hiperparâmetros de ML — minimizar erro de validação no espaço de configurações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usar métodos exatos?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5 funcionários em 3 turnos respeitando carga horária, folgas e incompatibilidades.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soluções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500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 e bem estruturado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Enumeração viável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1920240"/>
            <a:ext cx="2651760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920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exato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23500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inteira (ILP)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garante o ótimo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4496" y="1920240"/>
            <a:ext cx="2651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920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54496" y="23500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ótima garantida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tempo aceitável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868680"/>
          </a:xfrm>
          <a:prstGeom prst="rect">
            <a:avLst/>
          </a:prstGeom>
          <a:solidFill>
            <a:srgbClr val="FEFCE8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918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para a turma: o que acontece quando esse mesmo problema envolve 500 funcionários, 20 turnos e dezenas de restrições dinâmicas que mudam a cada semana?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Explosão combinatória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problemas combinatórios são difíceis na prática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0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TSP — 10 cidades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4538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~180.000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TSP — 20 cidades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21122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quatrilhões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734056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07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Mochila — 50 itens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2770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trilhão  (2⁵⁰)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3392424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655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TSP — 100 cidades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3429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10¹⁵⁷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FEFCE8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2519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NP-difícil: não se conhece algoritmo que resolva no pior caso em tempo polinomial. Instâncias de TSP com 50+ cidades tornam a busca exata impraticável. Precisamos de alternativas.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Taxonomia de abordagens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trocam garantia de ótimo por velocidade — decisão de engenharia consciente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Abordagem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Garante ótimo?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Não (inst. peq.)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&amp; Bound, prog. dinâmica, ILP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Greedy, busca local, 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Metaheurística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SA, GA, ACO, PSO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474720"/>
            <a:ext cx="8229600" cy="77724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5661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central: heurísticas não garantem o ótimo, mas encontram soluções muito boas em tempo viável — e isso é suficiente na maioria dos problemas reais.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Heurísticas Construtivas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obter uma solução inicial de qualidade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Algoritmo Guloso (Greedy)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passo: tomar a decisão localmente ótima — sem reconsiderar escolhas anteriores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construir rota TSP a partir da cidade 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5720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64792"/>
            <a:ext cx="43891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Partir da cidade A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Ir para a cidade mais próxima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ainda não visitada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Repetir até visitar todas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Retornar à origem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funciona bem: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Mochila fracionária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2039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Árvore geradora mínima (Kruskal)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costuma falhar: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807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TSP (pode gerar rotas 20–30% maiores que o ótimo)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31912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Problemas com dependências entre decisões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 solução inicial importa?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de melhoria partem de uma solução inicial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64792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 influencia diretamente a qualidade da solução final encontrada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41448"/>
            <a:ext cx="82296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41448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boa solução inicial acelera a convergência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iterações necessárias para atingir soluções de alta qualidade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65576"/>
            <a:ext cx="82296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65576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para obter solução inicial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813048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Aleatória (diversidade)  ·  Gulosa (boa qualidade)  ·  Multi-start (combinação das duas)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 Local e Simulated Annealing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central desta aula — vamos implementar a seguir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 Aleatória — o baseline honesto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inteligência: pura sorte. Qualquer algoritmo que não supere isso não tem valor.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484632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melhor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solução_inicial()
</a:t>
            </a:r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iterações: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candidato ← </a:t>
            </a:r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solução_aleatória()
</a:t>
            </a:r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objetivo(candidato) &lt; objetivo(melhor):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melhor ← candidato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retornar melhor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forte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737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de implementar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em espaços pequenos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2743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memória — ignora informação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solução atual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3749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como baseline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antes de publicar resultados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Simulated Annealing — motivação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escapar de ótimos locais sem explorar todo o espaço?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 física — recozimento de metais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228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aquecido: átomos em alta energia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228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76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Resfriamento lento: átomos se organizam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22860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15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final: baixa energia, ordem máxima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22860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54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Resfriado rápido: defeitos — ótimo local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ideia-chave no SA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1719072"/>
            <a:ext cx="3840480" cy="137160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810512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soluções PIORES com certa probabilidade, controlada pela temperatura 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permite escapar de ótimos locais durante a exploração inicial.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2004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alto  →  aceita quase tudo  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(exploração)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baixo → aceita só melhoras  </a:t>
            </a:r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(refinamento)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de aceitar uma piora Δ com temperatura T: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976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P(aceitar | Δ, T)  =  e^(−Δ / T)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Simulated Annealing — pseudocódigo completo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66360" cy="3246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44752"/>
            <a:ext cx="498348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inicial()  ;  </a:t>
            </a:r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T₀
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enquanto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&gt; T_min: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n_iter iterações: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vizinho ← gerar_vizinho(solução)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Δ ← objetivo(vizinho) − objetivo(solução)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&lt; 0:  </a:t>
            </a:r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solução ← vizinho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melhora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senão se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&lt; e^(−Δ/T):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solução ← vizinho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aceita piora com prob.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← T × α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resfriamento (α ≈ 0.99)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594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0" y="137160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0528" y="13716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inicial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→ exploração ampla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2267712"/>
            <a:ext cx="594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26771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10528" y="22677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parada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Tão baixo que não aceita mais pioras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3163824"/>
            <a:ext cx="594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316382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0528" y="3163824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rate (0.99–0.999)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de 1 → resfriamento lento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4059936"/>
            <a:ext cx="594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405993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n_iter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0528" y="405993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Iterações por temperatura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dentro de cada nível de 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Vizinhança — o componente mais crítico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'vizinho' é específico de cada problema e determina a qualidade da busca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binária (Lab 1 — função f(x))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64792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Flip de 1 bit aleatório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random(0, N_BITS)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vizinho[i] = 1 − vizinho[i]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permutação (Lab 2 — TSP)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764792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Swap de dois índices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 j = random_choice(N, 2)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nova[i], nova[j] = nova[j], nova[i]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 — vizinhança mais rica para TSP (Desafio Extra)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8229600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27832"/>
            <a:ext cx="8046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Inverte um segmento da rota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A → B → C → D → E → F → A ]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↓ 2-opt (i=2, j=4)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A → B → D → C → E → F → A ]   # arestas BC e DE substituídas por BD e CE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Algoritmos Populacionais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soluções trabalhando em paralelo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Algoritmos Genéticos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Inspiração: seleção natural darwiniana — populações de soluções evoluem ao longo de gerações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codificar a solução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binário, permutação, real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1371600"/>
            <a:ext cx="26517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7647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pais para reprodução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roleta proporcional, torneio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1371600"/>
            <a:ext cx="26517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54496" y="17647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dois pais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gerar filho com características de ambos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2926080"/>
            <a:ext cx="26517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926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3192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Perturbação aleatória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diversidade na população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04488" y="2926080"/>
            <a:ext cx="26517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04488" y="2926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04488" y="33192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Preservar as melhores soluções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gerações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Crossover (OX) para TSP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dois pais preservando a ordem relativa das cidades — sem repetições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2651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804672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 1:  [1, 2, 3 | </a:t>
            </a:r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4, 5, 6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7, 8]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 2:  [3, 7, 5, 1, 8, 6, 4, 2]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Passo 1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copiar segmento marcado do Pai 1: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Filho:  [_, _, _ | </a:t>
            </a:r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4, 5, 6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_, _]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Passo 2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preencher em ordem com Pai 2, pulando 4, 5 e 6: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Filho:  [</a:t>
            </a:r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3, 7, 1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4, 5, 6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8, 2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EFCE8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2976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copiar bits como em GA binário? Permutações não podem ter cidades repetidas. OX garante filho válido: cada cidade aparece exatamente uma vez.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PSO e ACO — visão geral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— Particle Swarm Optimization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Partículas movem-se no espaço de soluções atraídas pela melhor posição própria (pbest) e pela melhor global (gbest). Ideal para otimização contínua: ajuste de parâmetros, redes neurais.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 — Ant Colony Optimization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7530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Formigas constroem soluções guiadas por feromônios depositados nas melhores rotas encontradas. Naturalmente adequado para roteamento e sequenciamento (TSP, VRP).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usar o quê?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problema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contínua (1–N variáveis)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Vetor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SA, PSO, GA com codif.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Permutação (TSP, scheduling)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Permutação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+ 2-opt, GA + OX, ACO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Combinatório binário (mochila)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Vetor binário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SA, GA binário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Multivariado com restrições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Misto / codif. adaptada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GA, SA com penalidades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EFCE8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0233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bala de prata. A escolha depende do tipo de variável, do tamanho do espaço e do tempo disponível para ajustar parâmetros.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Avaliação e Boas Práticas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reportar resultados de forma séria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medir a qualidade de uma heurística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 otimalidade (quando ótimo é conhecido)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(%) = (custo_heurística − custo_ótimo) / custo_ótimo ×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ulysses16 tem ótimo = 6859. Se sua solução custa 7200, gap = 4,97%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93976"/>
            <a:ext cx="82296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0939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Estatísticas sobre múltiplas seeds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3500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melhor  /  média  /  desvio padrão   (recomendado: N ≥ 30 seeds)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56946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execução não representa o algoritmo — heurísticas são estocásticas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82296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809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convergência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323697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custo_melhor ao longo das iterações (gráfico)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45643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 se o algoritmo ainda melhora ou se travou cedo demais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67912"/>
            <a:ext cx="82296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8679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computacional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412394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n° iterações ou tempo fixo — mesmo limite para todos os concorrentes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43434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justa exige o mesmo budget; mais iterações não é melhor algoritmo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23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Armadilhas comuns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Sobreajuste de parâmetros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Tunar T₀, α e n_iter apenas para a instância de teste. Os parâmetros não generalizam para outros dados — a heurística parece boa mas não é.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28032" y="1325880"/>
            <a:ext cx="3931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Comparação injusta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28032" y="171907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com 10.000 iterações vs. GA com 100 — isso compara orçamento computacional, não algoritmo. Fixe o mesmo número de avaliações da função objetivo.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931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17520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Ignorar a variância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1071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o melhor resultado de 1 entre 50 execuções. Apresente média ± desvio de pelo menos 30 seeds com seeds fixadas (reproducibilidade).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28032" y="3017520"/>
            <a:ext cx="3931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017520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Vizinhança mal dimensionada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032" y="341071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pequena → busca lenta e limitada. Muito grande → cada iteração é cara. O equilíbrio é específico do problema e deve ser avaliado empiricamente.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 — o que vimos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6400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435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Otimização: variáveis, objetivo, restrições — e por que instâncias reais são difíceis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984248"/>
            <a:ext cx="6400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0253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Greedy: constrói solução inicial rápida, mas sem garantias de qualidade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551176"/>
            <a:ext cx="6400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6946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SA: aceitar pioras com probabilidade permite escapar de ótimos locais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118104"/>
            <a:ext cx="6400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1363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/ PSO / ACO: populações e inspirações naturais para espaços mais complexos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685032"/>
            <a:ext cx="6400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7033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direito: gap, distribuição de seeds, convergência, mesmo budget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434840"/>
            <a:ext cx="7680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seguir: implementar SA em Python — dois laboratórios práticos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Otimização Heurística — Parte Teórica</dc:title>
  <dc:subject>PptxGenJS Presentation</dc:subject>
  <dc:creator>PptxGenJS</dc:creator>
  <cp:lastModifiedBy>PptxGenJS</cp:lastModifiedBy>
  <cp:revision>1</cp:revision>
  <dcterms:created xsi:type="dcterms:W3CDTF">2026-06-13T01:51:23Z</dcterms:created>
  <dcterms:modified xsi:type="dcterms:W3CDTF">2026-06-13T01:51:23Z</dcterms:modified>
</cp:coreProperties>
</file>